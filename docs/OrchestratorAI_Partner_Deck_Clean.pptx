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Orchestrator AI: Partnering on Your AI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Secure • Practical • Tailored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Work With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Deploy server inside your intranet (not exposed externally)</a:t>
            </a:r>
          </a:p>
          <a:p>
            <a:r>
              <a:t>• Fork our front-end + back-end repo into your environment</a:t>
            </a:r>
          </a:p>
          <a:p>
            <a:r>
              <a:t>• Simple run mode: localhost (no Docker needed)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1828800" cy="914400"/>
          </a:xfrm>
          <a:prstGeom prst="roundRect">
            <a:avLst/>
          </a:prstGeom>
          <a:solidFill>
            <a:srgbClr val="E6F0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Firewall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743200"/>
            <a:ext cx="1828800" cy="914400"/>
          </a:xfrm>
          <a:prstGeom prst="roundRect">
            <a:avLst/>
          </a:prstGeom>
          <a:solidFill>
            <a:srgbClr val="E6F0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Server Inside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2743200"/>
            <a:ext cx="1828800" cy="914400"/>
          </a:xfrm>
          <a:prstGeom prst="roundRect">
            <a:avLst/>
          </a:prstGeom>
          <a:solidFill>
            <a:srgbClr val="E6F0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Your Team Only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3200400.0"/>
            <a:ext cx="457200" cy="0.0"/>
          </a:xfrm>
          <a:prstGeom prst="line">
            <a:avLst/>
          </a:prstGeom>
          <a:ln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3200400.0"/>
            <a:ext cx="914400" cy="0.0"/>
          </a:xfrm>
          <a:prstGeom prst="line">
            <a:avLst/>
          </a:prstGeom>
          <a:ln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Server installed inside your firewall</a:t>
            </a:r>
          </a:p>
          <a:p>
            <a:r>
              <a:t>2. Fork repository (front + back end)</a:t>
            </a:r>
          </a:p>
          <a:p>
            <a:r>
              <a:t>3. Supabase configured for storage/authentication</a:t>
            </a:r>
          </a:p>
          <a:p>
            <a:r>
              <a:t>4. Run locally → you’re up and running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1371600" cy="914400"/>
          </a:xfrm>
          <a:prstGeom prst="roundRect">
            <a:avLst/>
          </a:prstGeom>
          <a:solidFill>
            <a:srgbClr val="E6F0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Server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743200"/>
            <a:ext cx="1371600" cy="914400"/>
          </a:xfrm>
          <a:prstGeom prst="roundRect">
            <a:avLst/>
          </a:prstGeom>
          <a:solidFill>
            <a:srgbClr val="E6F0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Fork Repo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743200"/>
            <a:ext cx="1371600" cy="914400"/>
          </a:xfrm>
          <a:prstGeom prst="roundRect">
            <a:avLst/>
          </a:prstGeom>
          <a:solidFill>
            <a:srgbClr val="E6F0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Supabase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743200"/>
            <a:ext cx="1371600" cy="914400"/>
          </a:xfrm>
          <a:prstGeom prst="roundRect">
            <a:avLst/>
          </a:prstGeom>
          <a:solidFill>
            <a:srgbClr val="E6F0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Launch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3200400.0"/>
            <a:ext cx="457200" cy="0.0"/>
          </a:xfrm>
          <a:prstGeom prst="line">
            <a:avLst/>
          </a:prstGeom>
          <a:ln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57600" y="3200400.0"/>
            <a:ext cx="457200" cy="0.0"/>
          </a:xfrm>
          <a:prstGeom prst="line">
            <a:avLst/>
          </a:prstGeom>
          <a:ln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0" y="3200400.0"/>
            <a:ext cx="457200" cy="0.0"/>
          </a:xfrm>
          <a:prstGeom prst="line">
            <a:avLst/>
          </a:prstGeom>
          <a:ln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Remove ~95% of the sample agents</a:t>
            </a:r>
          </a:p>
          <a:p>
            <a:r>
              <a:t>• Start with just 1–2 meaningful agents</a:t>
            </a:r>
          </a:p>
          <a:p>
            <a:r>
              <a:t>• Work directly with:</a:t>
            </a:r>
          </a:p>
          <a:p>
            <a:r>
              <a:t>   – Developers</a:t>
            </a:r>
          </a:p>
          <a:p>
            <a:r>
              <a:t>   – Users</a:t>
            </a:r>
          </a:p>
          <a:p>
            <a:r>
              <a:t>   – Senior leadership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1828800" cy="914400"/>
          </a:xfrm>
          <a:prstGeom prst="roundRect">
            <a:avLst/>
          </a:prstGeom>
          <a:solidFill>
            <a:srgbClr val="E6F0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Many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2743200"/>
            <a:ext cx="1828800" cy="914400"/>
          </a:xfrm>
          <a:prstGeom prst="roundRect">
            <a:avLst/>
          </a:prstGeom>
          <a:solidFill>
            <a:srgbClr val="E6F0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1–2 Agents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3200400.0"/>
            <a:ext cx="1828800" cy="0.0"/>
          </a:xfrm>
          <a:prstGeom prst="line">
            <a:avLst/>
          </a:prstGeom>
          <a:ln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Phase 1: Fork + setup</a:t>
            </a:r>
          </a:p>
          <a:p>
            <a:r>
              <a:t>• Phase 2: Select 1–2 agents</a:t>
            </a:r>
          </a:p>
          <a:p>
            <a:r>
              <a:t>• Phase 3: Data work + context tuning</a:t>
            </a:r>
          </a:p>
          <a:p>
            <a:r>
              <a:t>     – Users can switch between models on the same deliverable</a:t>
            </a:r>
          </a:p>
          <a:p>
            <a:r>
              <a:t>     – Admins can evaluate tasks/deliverables for comparison &amp; improvement</a:t>
            </a:r>
          </a:p>
          <a:p>
            <a:r>
              <a:t>• Phase 4: Deploy first working agent</a:t>
            </a:r>
          </a:p>
          <a:p>
            <a:r>
              <a:t>• Phase 5: Expand into more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1280160" cy="731520"/>
          </a:xfrm>
          <a:prstGeom prst="roundRect">
            <a:avLst/>
          </a:prstGeom>
          <a:solidFill>
            <a:srgbClr val="E6F0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Phase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2743200"/>
            <a:ext cx="1280160" cy="731520"/>
          </a:xfrm>
          <a:prstGeom prst="roundRect">
            <a:avLst/>
          </a:prstGeom>
          <a:solidFill>
            <a:srgbClr val="E6F0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Phase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743200"/>
            <a:ext cx="1280160" cy="731520"/>
          </a:xfrm>
          <a:prstGeom prst="roundRect">
            <a:avLst/>
          </a:prstGeom>
          <a:solidFill>
            <a:srgbClr val="E6F0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Phase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2743200"/>
            <a:ext cx="1280160" cy="731520"/>
          </a:xfrm>
          <a:prstGeom prst="roundRect">
            <a:avLst/>
          </a:prstGeom>
          <a:solidFill>
            <a:srgbClr val="E6F0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Phase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743200"/>
            <a:ext cx="1280160" cy="731520"/>
          </a:xfrm>
          <a:prstGeom prst="roundRect">
            <a:avLst/>
          </a:prstGeom>
          <a:solidFill>
            <a:srgbClr val="E6F0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Phase 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37360" y="3108960.0"/>
            <a:ext cx="182880" cy="0.0"/>
          </a:xfrm>
          <a:prstGeom prst="line">
            <a:avLst/>
          </a:prstGeom>
          <a:ln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0" y="3108960.0"/>
            <a:ext cx="182880" cy="0.0"/>
          </a:xfrm>
          <a:prstGeom prst="line">
            <a:avLst/>
          </a:prstGeom>
          <a:ln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63440" y="3108960.0"/>
            <a:ext cx="182880" cy="0.0"/>
          </a:xfrm>
          <a:prstGeom prst="line">
            <a:avLst/>
          </a:prstGeom>
          <a:ln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126480" y="3108960.0"/>
            <a:ext cx="182880" cy="0.0"/>
          </a:xfrm>
          <a:prstGeom prst="line">
            <a:avLst/>
          </a:prstGeom>
          <a:ln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Agents are easy to build; real value is in data + context</a:t>
            </a:r>
          </a:p>
          <a:p>
            <a:r>
              <a:t>• Each tuned agent can support:</a:t>
            </a:r>
          </a:p>
          <a:p>
            <a:r>
              <a:t>   – Marketing</a:t>
            </a:r>
          </a:p>
          <a:p>
            <a:r>
              <a:t>   – Customer Service</a:t>
            </a:r>
          </a:p>
          <a:p>
            <a:r>
              <a:t>   – Internal Operations</a:t>
            </a:r>
          </a:p>
          <a:p>
            <a:r>
              <a:t>• Once the first is live, replication scales easily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286000"/>
            <a:ext cx="1828800" cy="914400"/>
          </a:xfrm>
          <a:prstGeom prst="roundRect">
            <a:avLst/>
          </a:prstGeom>
          <a:solidFill>
            <a:srgbClr val="E6F0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114800"/>
            <a:ext cx="1828800" cy="914400"/>
          </a:xfrm>
          <a:prstGeom prst="roundRect">
            <a:avLst/>
          </a:prstGeom>
          <a:solidFill>
            <a:srgbClr val="E6F0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Marketing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4114800"/>
            <a:ext cx="1828800" cy="914400"/>
          </a:xfrm>
          <a:prstGeom prst="roundRect">
            <a:avLst/>
          </a:prstGeom>
          <a:solidFill>
            <a:srgbClr val="E6F0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Customer 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114800"/>
            <a:ext cx="1828800" cy="914400"/>
          </a:xfrm>
          <a:prstGeom prst="roundRect">
            <a:avLst/>
          </a:prstGeom>
          <a:solidFill>
            <a:srgbClr val="E6F0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Operations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457200" y="2743200.0"/>
            <a:ext cx="4114800" cy="1828800.0"/>
          </a:xfrm>
          <a:prstGeom prst="line">
            <a:avLst/>
          </a:prstGeom>
          <a:ln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2743200" y="2743200.0"/>
            <a:ext cx="1828800" cy="1828800.0"/>
          </a:xfrm>
          <a:prstGeom prst="line">
            <a:avLst/>
          </a:prstGeom>
          <a:ln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" y="2743200.0"/>
            <a:ext cx="457200" cy="1828800.0"/>
          </a:xfrm>
          <a:prstGeom prst="line">
            <a:avLst/>
          </a:prstGeom>
          <a:ln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Long-Term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Reusable framework for every future agent</a:t>
            </a:r>
          </a:p>
          <a:p>
            <a:r>
              <a:t>• Tailored to your data + workflows</a:t>
            </a:r>
          </a:p>
          <a:p>
            <a:r>
              <a:t>• Collaborative strategy: built with you, not for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286000"/>
            <a:ext cx="1828800" cy="914400"/>
          </a:xfrm>
          <a:prstGeom prst="roundRect">
            <a:avLst/>
          </a:prstGeom>
          <a:solidFill>
            <a:srgbClr val="E6F0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First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114800"/>
            <a:ext cx="1828800" cy="914400"/>
          </a:xfrm>
          <a:prstGeom prst="roundRect">
            <a:avLst/>
          </a:prstGeom>
          <a:solidFill>
            <a:srgbClr val="E6F0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Agent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4114800"/>
            <a:ext cx="1828800" cy="914400"/>
          </a:xfrm>
          <a:prstGeom prst="roundRect">
            <a:avLst/>
          </a:prstGeom>
          <a:solidFill>
            <a:srgbClr val="E6F0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Agent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114800"/>
            <a:ext cx="1828800" cy="914400"/>
          </a:xfrm>
          <a:prstGeom prst="roundRect">
            <a:avLst/>
          </a:prstGeom>
          <a:solidFill>
            <a:srgbClr val="E6F0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Agent 4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457200" y="2743200.0"/>
            <a:ext cx="4114800" cy="1828800.0"/>
          </a:xfrm>
          <a:prstGeom prst="line">
            <a:avLst/>
          </a:prstGeom>
          <a:ln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2743200" y="2743200.0"/>
            <a:ext cx="1828800" cy="1828800.0"/>
          </a:xfrm>
          <a:prstGeom prst="line">
            <a:avLst/>
          </a:prstGeom>
          <a:ln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" y="2743200.0"/>
            <a:ext cx="457200" cy="1828800.0"/>
          </a:xfrm>
          <a:prstGeom prst="line">
            <a:avLst/>
          </a:prstGeom>
          <a:ln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Schedule kickoff session</a:t>
            </a:r>
          </a:p>
          <a:p>
            <a:r>
              <a:t>2. Set up intranet server</a:t>
            </a:r>
          </a:p>
          <a:p>
            <a:r>
              <a:t>3. Fork repo &amp; configure Supabase</a:t>
            </a:r>
          </a:p>
          <a:p>
            <a:r>
              <a:t>4. Build your first agent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1645920" cy="914400"/>
          </a:xfrm>
          <a:prstGeom prst="roundRect">
            <a:avLst/>
          </a:prstGeom>
          <a:solidFill>
            <a:srgbClr val="E6F0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Kickoff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743200"/>
            <a:ext cx="1645920" cy="914400"/>
          </a:xfrm>
          <a:prstGeom prst="roundRect">
            <a:avLst/>
          </a:prstGeom>
          <a:solidFill>
            <a:srgbClr val="E6F0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743200"/>
            <a:ext cx="1645920" cy="914400"/>
          </a:xfrm>
          <a:prstGeom prst="roundRect">
            <a:avLst/>
          </a:prstGeom>
          <a:solidFill>
            <a:srgbClr val="E6F0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Repo + Supabase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743200"/>
            <a:ext cx="1645920" cy="914400"/>
          </a:xfrm>
          <a:prstGeom prst="roundRect">
            <a:avLst/>
          </a:prstGeom>
          <a:solidFill>
            <a:srgbClr val="E6F0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0000"/>
                </a:solidFill>
              </a:rPr>
              <a:t>First Agent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3200400.0"/>
            <a:ext cx="182880" cy="0.0"/>
          </a:xfrm>
          <a:prstGeom prst="line">
            <a:avLst/>
          </a:prstGeom>
          <a:ln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3200400.0"/>
            <a:ext cx="182880" cy="0.0"/>
          </a:xfrm>
          <a:prstGeom prst="line">
            <a:avLst/>
          </a:prstGeom>
          <a:ln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60720" y="3200400.0"/>
            <a:ext cx="182880" cy="0.0"/>
          </a:xfrm>
          <a:prstGeom prst="line">
            <a:avLst/>
          </a:prstGeom>
          <a:ln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